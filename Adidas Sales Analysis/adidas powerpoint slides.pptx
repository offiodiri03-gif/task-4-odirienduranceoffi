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3BEE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2218" autoAdjust="0"/>
  </p:normalViewPr>
  <p:slideViewPr>
    <p:cSldViewPr snapToGrid="0">
      <p:cViewPr varScale="1">
        <p:scale>
          <a:sx n="63" d="100"/>
          <a:sy n="63" d="100"/>
        </p:scale>
        <p:origin x="10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62259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62741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66976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5/23/2026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55745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5/23/2026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94803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5/23/2026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8791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5/23/2026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10316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5/23/2026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48615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5/23/2026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19907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1709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11183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868257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0" r:id="rId2"/>
    <p:sldLayoutId id="2147483669" r:id="rId3"/>
    <p:sldLayoutId id="2147483668" r:id="rId4"/>
    <p:sldLayoutId id="2147483667" r:id="rId5"/>
    <p:sldLayoutId id="2147483666" r:id="rId6"/>
    <p:sldLayoutId id="2147483665" r:id="rId7"/>
    <p:sldLayoutId id="2147483664" r:id="rId8"/>
    <p:sldLayoutId id="2147483663" r:id="rId9"/>
    <p:sldLayoutId id="2147483662" r:id="rId10"/>
    <p:sldLayoutId id="2147483661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jpg"/><Relationship Id="rId4" Type="http://schemas.openxmlformats.org/officeDocument/2006/relationships/image" Target="../media/image6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rogramming data on computer monitor">
            <a:extLst>
              <a:ext uri="{FF2B5EF4-FFF2-40B4-BE49-F238E27FC236}">
                <a16:creationId xmlns:a16="http://schemas.microsoft.com/office/drawing/2014/main" id="{FFDF6969-6D63-82F5-A981-CBDCAA67747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306924" cy="6858000"/>
          </a:xfrm>
          <a:prstGeom prst="rect">
            <a:avLst/>
          </a:prstGeom>
        </p:spPr>
      </p:pic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121A1F-3484-EF20-3ACD-9208EF4DD4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3400" y="908651"/>
            <a:ext cx="4937004" cy="4058682"/>
          </a:xfrm>
        </p:spPr>
        <p:txBody>
          <a:bodyPr anchor="t">
            <a:normAutofit/>
          </a:bodyPr>
          <a:lstStyle/>
          <a:p>
            <a:r>
              <a:rPr lang="en-GB" sz="6600" dirty="0"/>
              <a:t>Adidas Sales Data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81A677F-F5E0-9D18-A6A0-A7E6831BA1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0100" y="5526605"/>
            <a:ext cx="4172757" cy="845487"/>
          </a:xfrm>
        </p:spPr>
        <p:txBody>
          <a:bodyPr anchor="b">
            <a:normAutofit/>
          </a:bodyPr>
          <a:lstStyle/>
          <a:p>
            <a:pPr>
              <a:lnSpc>
                <a:spcPct val="100000"/>
              </a:lnSpc>
            </a:pPr>
            <a:r>
              <a:rPr lang="en-GB" sz="1600" dirty="0"/>
              <a:t>Presented By:</a:t>
            </a:r>
          </a:p>
          <a:p>
            <a:pPr>
              <a:lnSpc>
                <a:spcPct val="100000"/>
              </a:lnSpc>
            </a:pPr>
            <a:r>
              <a:rPr lang="en-GB" sz="1600" dirty="0" err="1"/>
              <a:t>Odiri</a:t>
            </a:r>
            <a:r>
              <a:rPr lang="en-GB" sz="1600" dirty="0"/>
              <a:t> Endurance </a:t>
            </a:r>
            <a:r>
              <a:rPr lang="en-GB" sz="1600" dirty="0" err="1"/>
              <a:t>Offi</a:t>
            </a:r>
            <a:endParaRPr lang="en-GB" sz="1600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3D Hologram from iPad">
            <a:extLst>
              <a:ext uri="{FF2B5EF4-FFF2-40B4-BE49-F238E27FC236}">
                <a16:creationId xmlns:a16="http://schemas.microsoft.com/office/drawing/2014/main" id="{408ADC0E-30FE-524D-0AAD-C5EED72C40B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2801" r="30106" b="-1"/>
          <a:stretch>
            <a:fillRect/>
          </a:stretch>
        </p:blipFill>
        <p:spPr>
          <a:xfrm>
            <a:off x="6326272" y="10"/>
            <a:ext cx="5865727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11912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14CCFB90-7D97-2E11-45EE-857A24ACE1E6}"/>
              </a:ext>
            </a:extLst>
          </p:cNvPr>
          <p:cNvSpPr/>
          <p:nvPr/>
        </p:nvSpPr>
        <p:spPr>
          <a:xfrm>
            <a:off x="700635" y="1753848"/>
            <a:ext cx="4747664" cy="204554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highlight>
                <a:srgbClr val="C0C0C0"/>
              </a:highlight>
              <a:latin typeface="+mj-lt"/>
            </a:endParaRPr>
          </a:p>
        </p:txBody>
      </p:sp>
      <p:pic>
        <p:nvPicPr>
          <p:cNvPr id="21" name="Picture 20" descr="Programming data on computer monitor">
            <a:extLst>
              <a:ext uri="{FF2B5EF4-FFF2-40B4-BE49-F238E27FC236}">
                <a16:creationId xmlns:a16="http://schemas.microsoft.com/office/drawing/2014/main" id="{2ED46D6A-4040-28CA-16BD-1C1E734FBC8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306924" cy="6858000"/>
          </a:xfrm>
          <a:prstGeom prst="rect">
            <a:avLst/>
          </a:prstGeom>
        </p:spPr>
      </p:pic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6DBB4048-3A51-7838-3FAC-C631801D0BF2}"/>
              </a:ext>
            </a:extLst>
          </p:cNvPr>
          <p:cNvSpPr/>
          <p:nvPr/>
        </p:nvSpPr>
        <p:spPr>
          <a:xfrm>
            <a:off x="700634" y="955862"/>
            <a:ext cx="8578276" cy="590893"/>
          </a:xfrm>
          <a:prstGeom prst="roundRect">
            <a:avLst/>
          </a:prstGeom>
          <a:gradFill flip="none" rotWithShape="1">
            <a:gsLst>
              <a:gs pos="0">
                <a:srgbClr val="0070C0">
                  <a:tint val="66000"/>
                  <a:satMod val="160000"/>
                </a:srgbClr>
              </a:gs>
              <a:gs pos="50000">
                <a:srgbClr val="0070C0">
                  <a:tint val="44500"/>
                  <a:satMod val="160000"/>
                </a:srgbClr>
              </a:gs>
              <a:gs pos="100000">
                <a:srgbClr val="0070C0">
                  <a:tint val="23500"/>
                  <a:satMod val="160000"/>
                </a:srgbClr>
              </a:gs>
            </a:gsLst>
            <a:lin ang="1080000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B33446-F5AF-8DB6-BFA5-F33332C8C1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Business Problem and Objectives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9EEF50B-FB5A-2D55-98D1-813B3E3F82E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07539" y="1705381"/>
            <a:ext cx="4333856" cy="16708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Identify top-performing products, regions, and channels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Improve profitability and sales growth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Optimize retailer and channel strategy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Support data-driven decision-making 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A44F4A6-0EDB-99D9-B81B-037086F676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8736057"/>
              </p:ext>
            </p:extLst>
          </p:nvPr>
        </p:nvGraphicFramePr>
        <p:xfrm>
          <a:off x="5448300" y="3799398"/>
          <a:ext cx="5943600" cy="2743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81200">
                  <a:extLst>
                    <a:ext uri="{9D8B030D-6E8A-4147-A177-3AD203B41FA5}">
                      <a16:colId xmlns:a16="http://schemas.microsoft.com/office/drawing/2014/main" val="1529153493"/>
                    </a:ext>
                  </a:extLst>
                </a:gridCol>
                <a:gridCol w="1981200">
                  <a:extLst>
                    <a:ext uri="{9D8B030D-6E8A-4147-A177-3AD203B41FA5}">
                      <a16:colId xmlns:a16="http://schemas.microsoft.com/office/drawing/2014/main" val="3041735213"/>
                    </a:ext>
                  </a:extLst>
                </a:gridCol>
                <a:gridCol w="1981200">
                  <a:extLst>
                    <a:ext uri="{9D8B030D-6E8A-4147-A177-3AD203B41FA5}">
                      <a16:colId xmlns:a16="http://schemas.microsoft.com/office/drawing/2014/main" val="2024759688"/>
                    </a:ext>
                  </a:extLst>
                </a:gridCol>
              </a:tblGrid>
              <a:tr h="25507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>
                          <a:effectLst/>
                          <a:latin typeface="+mj-lt"/>
                        </a:rPr>
                        <a:t>Key Performance Indicator</a:t>
                      </a:r>
                      <a:endParaRPr lang="en-US" sz="1200" dirty="0">
                        <a:effectLst/>
                        <a:latin typeface="+mj-lt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effectLst/>
                          <a:latin typeface="+mj-lt"/>
                        </a:rPr>
                        <a:t>Value</a:t>
                      </a:r>
                      <a:endParaRPr lang="en-US" sz="1200">
                        <a:effectLst/>
                        <a:latin typeface="+mj-lt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effectLst/>
                          <a:latin typeface="+mj-lt"/>
                        </a:rPr>
                        <a:t>Insight</a:t>
                      </a:r>
                      <a:endParaRPr lang="en-US" sz="1200">
                        <a:effectLst/>
                        <a:latin typeface="+mj-lt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446219097"/>
                  </a:ext>
                </a:extLst>
              </a:tr>
              <a:tr h="2550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effectLst/>
                          <a:latin typeface="+mj-lt"/>
                        </a:rPr>
                        <a:t>Total Revenue</a:t>
                      </a:r>
                      <a:endParaRPr lang="en-US" sz="1200" dirty="0">
                        <a:effectLst/>
                        <a:latin typeface="+mj-lt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effectLst/>
                          <a:latin typeface="+mj-lt"/>
                        </a:rPr>
                        <a:t>$899,902,125</a:t>
                      </a:r>
                      <a:endParaRPr lang="en-US" sz="1200">
                        <a:effectLst/>
                        <a:latin typeface="+mj-lt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effectLst/>
                          <a:latin typeface="+mj-lt"/>
                        </a:rPr>
                        <a:t>Across 2020–2021</a:t>
                      </a:r>
                      <a:endParaRPr lang="en-US" sz="1200">
                        <a:effectLst/>
                        <a:latin typeface="+mj-lt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2432282031"/>
                  </a:ext>
                </a:extLst>
              </a:tr>
              <a:tr h="2550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effectLst/>
                          <a:latin typeface="+mj-lt"/>
                        </a:rPr>
                        <a:t>Total Operating Profit</a:t>
                      </a:r>
                      <a:endParaRPr lang="en-US" sz="1200" dirty="0">
                        <a:effectLst/>
                        <a:latin typeface="+mj-lt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effectLst/>
                          <a:latin typeface="+mj-lt"/>
                        </a:rPr>
                        <a:t>$332,134,761</a:t>
                      </a:r>
                      <a:endParaRPr lang="en-US" sz="1200">
                        <a:effectLst/>
                        <a:latin typeface="+mj-lt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>
                          <a:effectLst/>
                          <a:latin typeface="+mj-lt"/>
                        </a:rPr>
                        <a:t>37% of total revenue</a:t>
                      </a:r>
                      <a:endParaRPr lang="en-US" sz="1200" dirty="0">
                        <a:effectLst/>
                        <a:latin typeface="+mj-lt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174307319"/>
                  </a:ext>
                </a:extLst>
              </a:tr>
              <a:tr h="2550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effectLst/>
                          <a:latin typeface="+mj-lt"/>
                        </a:rPr>
                        <a:t>Average Operating Margin</a:t>
                      </a:r>
                      <a:endParaRPr lang="en-US" sz="1200" dirty="0">
                        <a:effectLst/>
                        <a:latin typeface="+mj-lt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effectLst/>
                          <a:latin typeface="+mj-lt"/>
                        </a:rPr>
                        <a:t>42.3%</a:t>
                      </a:r>
                      <a:endParaRPr lang="en-US" sz="1200">
                        <a:effectLst/>
                        <a:latin typeface="+mj-lt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effectLst/>
                          <a:latin typeface="+mj-lt"/>
                        </a:rPr>
                        <a:t>Healthy profitability</a:t>
                      </a:r>
                      <a:endParaRPr lang="en-US" sz="1200">
                        <a:effectLst/>
                        <a:latin typeface="+mj-lt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2019688003"/>
                  </a:ext>
                </a:extLst>
              </a:tr>
              <a:tr h="2550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effectLst/>
                          <a:latin typeface="+mj-lt"/>
                        </a:rPr>
                        <a:t>Top Product Category</a:t>
                      </a:r>
                      <a:endParaRPr lang="en-US" sz="1200" dirty="0">
                        <a:effectLst/>
                        <a:latin typeface="+mj-lt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effectLst/>
                          <a:latin typeface="+mj-lt"/>
                        </a:rPr>
                        <a:t>Men’s Street Footwear</a:t>
                      </a:r>
                      <a:endParaRPr lang="en-US" sz="1200">
                        <a:effectLst/>
                        <a:latin typeface="+mj-lt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effectLst/>
                          <a:latin typeface="+mj-lt"/>
                        </a:rPr>
                        <a:t>$208.8M revenue</a:t>
                      </a:r>
                      <a:endParaRPr lang="en-US" sz="1200">
                        <a:effectLst/>
                        <a:latin typeface="+mj-lt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434435087"/>
                  </a:ext>
                </a:extLst>
              </a:tr>
              <a:tr h="2550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effectLst/>
                          <a:latin typeface="+mj-lt"/>
                        </a:rPr>
                        <a:t>Top Retailer</a:t>
                      </a:r>
                      <a:endParaRPr lang="en-US" sz="1200" dirty="0">
                        <a:effectLst/>
                        <a:latin typeface="+mj-lt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effectLst/>
                          <a:latin typeface="+mj-lt"/>
                        </a:rPr>
                        <a:t>West Gear</a:t>
                      </a:r>
                      <a:endParaRPr lang="en-US" sz="1200">
                        <a:effectLst/>
                        <a:latin typeface="+mj-lt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effectLst/>
                          <a:latin typeface="+mj-lt"/>
                        </a:rPr>
                        <a:t>$243.0M revenue</a:t>
                      </a:r>
                      <a:endParaRPr lang="en-US" sz="1200">
                        <a:effectLst/>
                        <a:latin typeface="+mj-lt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2661099983"/>
                  </a:ext>
                </a:extLst>
              </a:tr>
              <a:tr h="2550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effectLst/>
                          <a:latin typeface="+mj-lt"/>
                        </a:rPr>
                        <a:t>Top Region</a:t>
                      </a:r>
                      <a:endParaRPr lang="en-US" sz="1200" dirty="0">
                        <a:effectLst/>
                        <a:latin typeface="+mj-lt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>
                          <a:effectLst/>
                          <a:latin typeface="+mj-lt"/>
                        </a:rPr>
                        <a:t>West</a:t>
                      </a:r>
                      <a:endParaRPr lang="en-US" sz="1200" dirty="0">
                        <a:effectLst/>
                        <a:latin typeface="+mj-lt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effectLst/>
                          <a:latin typeface="+mj-lt"/>
                        </a:rPr>
                        <a:t>$269.9M revenue</a:t>
                      </a:r>
                      <a:endParaRPr lang="en-US" sz="1200">
                        <a:effectLst/>
                        <a:latin typeface="+mj-lt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4151533305"/>
                  </a:ext>
                </a:extLst>
              </a:tr>
              <a:tr h="4190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  <a:latin typeface="+mj-lt"/>
                        </a:rPr>
                        <a:t>Highest Revenue Sales Method</a:t>
                      </a:r>
                      <a:endParaRPr lang="en-US" sz="1200">
                        <a:effectLst/>
                        <a:latin typeface="+mj-lt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>
                          <a:effectLst/>
                          <a:latin typeface="+mj-lt"/>
                        </a:rPr>
                        <a:t>In-store</a:t>
                      </a:r>
                      <a:endParaRPr lang="en-US" sz="1200" dirty="0">
                        <a:effectLst/>
                        <a:latin typeface="+mj-lt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effectLst/>
                          <a:latin typeface="+mj-lt"/>
                        </a:rPr>
                        <a:t>$356.6M revenue</a:t>
                      </a:r>
                      <a:endParaRPr lang="en-US" sz="1200">
                        <a:effectLst/>
                        <a:latin typeface="+mj-lt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3298840951"/>
                  </a:ext>
                </a:extLst>
              </a:tr>
              <a:tr h="2550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  <a:latin typeface="+mj-lt"/>
                        </a:rPr>
                        <a:t>Sales Growth (2020→2021)</a:t>
                      </a:r>
                      <a:endParaRPr lang="en-US" sz="1200">
                        <a:effectLst/>
                        <a:latin typeface="+mj-lt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effectLst/>
                          <a:latin typeface="+mj-lt"/>
                        </a:rPr>
                        <a:t>~4.4× increase</a:t>
                      </a:r>
                      <a:endParaRPr lang="en-US" sz="1200">
                        <a:effectLst/>
                        <a:latin typeface="+mj-lt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>
                          <a:effectLst/>
                          <a:latin typeface="+mj-lt"/>
                        </a:rPr>
                        <a:t>Strong post-COVID recovery</a:t>
                      </a:r>
                      <a:endParaRPr lang="en-US" sz="1200" dirty="0">
                        <a:effectLst/>
                        <a:latin typeface="+mj-lt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3329028341"/>
                  </a:ext>
                </a:extLst>
              </a:tr>
            </a:tbl>
          </a:graphicData>
        </a:graphic>
      </p:graphicFrame>
      <p:pic>
        <p:nvPicPr>
          <p:cNvPr id="17" name="Picture 16" descr="Businessperson on a computer">
            <a:extLst>
              <a:ext uri="{FF2B5EF4-FFF2-40B4-BE49-F238E27FC236}">
                <a16:creationId xmlns:a16="http://schemas.microsoft.com/office/drawing/2014/main" id="{EFA26594-6541-6036-5555-DD1DDD5E9CC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48300" y="1753848"/>
            <a:ext cx="5943601" cy="2045549"/>
          </a:xfrm>
          <a:prstGeom prst="rect">
            <a:avLst/>
          </a:prstGeom>
        </p:spPr>
      </p:pic>
      <p:pic>
        <p:nvPicPr>
          <p:cNvPr id="19" name="Picture 18" descr="Businessman looking at tablet">
            <a:extLst>
              <a:ext uri="{FF2B5EF4-FFF2-40B4-BE49-F238E27FC236}">
                <a16:creationId xmlns:a16="http://schemas.microsoft.com/office/drawing/2014/main" id="{A5B6CF55-593E-7A8B-71D8-3DE6771A8FC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0635" y="3799397"/>
            <a:ext cx="4747664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61374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 descr="Programming data on computer monitor">
            <a:extLst>
              <a:ext uri="{FF2B5EF4-FFF2-40B4-BE49-F238E27FC236}">
                <a16:creationId xmlns:a16="http://schemas.microsoft.com/office/drawing/2014/main" id="{30E2CBF0-7DF7-5F43-27BC-B12DD077B57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306924" cy="6858000"/>
          </a:xfrm>
          <a:prstGeom prst="rect">
            <a:avLst/>
          </a:prstGeom>
        </p:spPr>
      </p:pic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A1E2D505-6C9C-8654-16EC-AEF09C4D890B}"/>
              </a:ext>
            </a:extLst>
          </p:cNvPr>
          <p:cNvSpPr/>
          <p:nvPr/>
        </p:nvSpPr>
        <p:spPr>
          <a:xfrm>
            <a:off x="3913324" y="1172487"/>
            <a:ext cx="3961307" cy="590893"/>
          </a:xfrm>
          <a:prstGeom prst="roundRect">
            <a:avLst/>
          </a:prstGeom>
          <a:gradFill flip="none" rotWithShape="1">
            <a:gsLst>
              <a:gs pos="0">
                <a:srgbClr val="0070C0">
                  <a:tint val="66000"/>
                  <a:satMod val="160000"/>
                </a:srgbClr>
              </a:gs>
              <a:gs pos="50000">
                <a:srgbClr val="0070C0">
                  <a:tint val="44500"/>
                  <a:satMod val="160000"/>
                </a:srgbClr>
              </a:gs>
              <a:gs pos="100000">
                <a:srgbClr val="0070C0">
                  <a:tint val="23500"/>
                  <a:satMod val="160000"/>
                </a:srgbClr>
              </a:gs>
            </a:gsLst>
            <a:lin ang="1080000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61214D9-E4DB-A80E-77B7-B1D5CEE578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676" y="1172486"/>
            <a:ext cx="3505543" cy="675235"/>
          </a:xfrm>
        </p:spPr>
        <p:txBody>
          <a:bodyPr>
            <a:normAutofit fontScale="90000"/>
          </a:bodyPr>
          <a:lstStyle/>
          <a:p>
            <a:r>
              <a:rPr lang="en-GB" dirty="0"/>
              <a:t>Data OVERVIEW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FBB513A-355C-BB99-D436-30A5995A936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885796" y="5136749"/>
            <a:ext cx="419858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6 retailers, 5 regions, 6 product categories 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E9FC7672-38D0-2FA1-6091-A3C151D4985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19515" y="1568196"/>
            <a:ext cx="3371850" cy="2382117"/>
          </a:xfrm>
          <a:prstGeom prst="rect">
            <a:avLst/>
          </a:prstGeom>
        </p:spPr>
      </p:pic>
      <p:sp>
        <p:nvSpPr>
          <p:cNvPr id="7" name="Rectangle 2">
            <a:extLst>
              <a:ext uri="{FF2B5EF4-FFF2-40B4-BE49-F238E27FC236}">
                <a16:creationId xmlns:a16="http://schemas.microsoft.com/office/drawing/2014/main" id="{711372EF-2D56-A037-8F80-EA61B8ADFD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0208D3E2-0CE9-E0EF-CA81-80B1795339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10" name="Picture 9" descr="One big red thumbtack in front of many smaller black thumbtacks">
            <a:extLst>
              <a:ext uri="{FF2B5EF4-FFF2-40B4-BE49-F238E27FC236}">
                <a16:creationId xmlns:a16="http://schemas.microsoft.com/office/drawing/2014/main" id="{0BDB2B94-017C-0C39-9C67-D517F9031B0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100" y="1763452"/>
            <a:ext cx="2999796" cy="218686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DA218AA-F9C8-591E-89E5-EE4EDCAAA089}"/>
              </a:ext>
            </a:extLst>
          </p:cNvPr>
          <p:cNvSpPr txBox="1"/>
          <p:nvPr/>
        </p:nvSpPr>
        <p:spPr>
          <a:xfrm>
            <a:off x="603088" y="4124060"/>
            <a:ext cx="350207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9,648 transactions (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2020–2021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)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65A6DBF-FA4D-8E9D-9618-ED66249D8DA3}"/>
              </a:ext>
            </a:extLst>
          </p:cNvPr>
          <p:cNvSpPr txBox="1"/>
          <p:nvPr/>
        </p:nvSpPr>
        <p:spPr>
          <a:xfrm>
            <a:off x="8119515" y="4110085"/>
            <a:ext cx="33718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Metrics: Revenue, Profit, Margin </a:t>
            </a:r>
          </a:p>
        </p:txBody>
      </p:sp>
      <p:pic>
        <p:nvPicPr>
          <p:cNvPr id="20" name="Picture 19" descr="Abstract background of dark mesh">
            <a:extLst>
              <a:ext uri="{FF2B5EF4-FFF2-40B4-BE49-F238E27FC236}">
                <a16:creationId xmlns:a16="http://schemas.microsoft.com/office/drawing/2014/main" id="{2AC63ECF-89EB-2C1F-974A-74AD6823EBE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13324" y="2983991"/>
            <a:ext cx="4092762" cy="23021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89172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Programming data on computer monitor">
            <a:extLst>
              <a:ext uri="{FF2B5EF4-FFF2-40B4-BE49-F238E27FC236}">
                <a16:creationId xmlns:a16="http://schemas.microsoft.com/office/drawing/2014/main" id="{45332B27-D099-487F-604F-B5A91299E880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306924" cy="6858000"/>
          </a:xfrm>
          <a:prstGeom prst="rect">
            <a:avLst/>
          </a:prstGeom>
        </p:spPr>
      </p:pic>
      <p:pic>
        <p:nvPicPr>
          <p:cNvPr id="10" name="Picture 9" descr="Two colleagues planning on board with sticky notes">
            <a:extLst>
              <a:ext uri="{FF2B5EF4-FFF2-40B4-BE49-F238E27FC236}">
                <a16:creationId xmlns:a16="http://schemas.microsoft.com/office/drawing/2014/main" id="{3E4212B1-8658-2721-FDEE-E6572DC92DC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1114" y="0"/>
            <a:ext cx="6270886" cy="6858000"/>
          </a:xfrm>
          <a:prstGeom prst="rect">
            <a:avLst/>
          </a:prstGeom>
        </p:spPr>
      </p:pic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4CE1AA43-B1C4-E718-154E-B87AAE119560}"/>
              </a:ext>
            </a:extLst>
          </p:cNvPr>
          <p:cNvSpPr/>
          <p:nvPr/>
        </p:nvSpPr>
        <p:spPr>
          <a:xfrm>
            <a:off x="1401270" y="977303"/>
            <a:ext cx="3301740" cy="590893"/>
          </a:xfrm>
          <a:prstGeom prst="roundRect">
            <a:avLst/>
          </a:prstGeom>
          <a:gradFill flip="none" rotWithShape="1">
            <a:gsLst>
              <a:gs pos="0">
                <a:srgbClr val="0070C0">
                  <a:tint val="66000"/>
                  <a:satMod val="160000"/>
                </a:srgbClr>
              </a:gs>
              <a:gs pos="50000">
                <a:srgbClr val="0070C0">
                  <a:tint val="44500"/>
                  <a:satMod val="160000"/>
                </a:srgbClr>
              </a:gs>
              <a:gs pos="100000">
                <a:srgbClr val="0070C0">
                  <a:tint val="23500"/>
                  <a:satMod val="160000"/>
                </a:srgbClr>
              </a:gs>
            </a:gsLst>
            <a:lin ang="1080000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E307286-CD03-AA1C-8DC1-7D22C21938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0025" y="977303"/>
            <a:ext cx="3301741" cy="653796"/>
          </a:xfrm>
        </p:spPr>
        <p:txBody>
          <a:bodyPr>
            <a:normAutofit fontScale="90000"/>
          </a:bodyPr>
          <a:lstStyle/>
          <a:p>
            <a:r>
              <a:rPr lang="en-GB" dirty="0"/>
              <a:t>OVERALL KPI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472304C-4D60-B48F-1F1E-E97F46C12C0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98585" y="2201083"/>
            <a:ext cx="5022529" cy="22159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Revenue: </a:t>
            </a:r>
            <a:r>
              <a:rPr kumimoji="0" lang="en-US" altLang="en-US" sz="4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$899.9M</a:t>
            </a: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Profit: </a:t>
            </a:r>
            <a:r>
              <a:rPr kumimoji="0" lang="en-US" altLang="en-US" sz="4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$332.1M (37%)</a:t>
            </a: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Avg Margin: </a:t>
            </a:r>
            <a:r>
              <a:rPr kumimoji="0" lang="en-US" altLang="en-US" sz="4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42.3%</a:t>
            </a: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2338097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Programming data on computer monitor">
            <a:extLst>
              <a:ext uri="{FF2B5EF4-FFF2-40B4-BE49-F238E27FC236}">
                <a16:creationId xmlns:a16="http://schemas.microsoft.com/office/drawing/2014/main" id="{742EB597-4A3F-2505-449A-28AD9AEAF6E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306924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A59273F-12E5-09C0-CA32-A9F8B0B0F7AC}"/>
              </a:ext>
            </a:extLst>
          </p:cNvPr>
          <p:cNvSpPr txBox="1"/>
          <p:nvPr/>
        </p:nvSpPr>
        <p:spPr>
          <a:xfrm>
            <a:off x="498269" y="1948721"/>
            <a:ext cx="5916125" cy="4091265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021A1FB5-A8B1-FDFC-CF59-F768A9EFBD96}"/>
              </a:ext>
            </a:extLst>
          </p:cNvPr>
          <p:cNvSpPr/>
          <p:nvPr/>
        </p:nvSpPr>
        <p:spPr>
          <a:xfrm>
            <a:off x="700634" y="955862"/>
            <a:ext cx="10257176" cy="590893"/>
          </a:xfrm>
          <a:prstGeom prst="roundRect">
            <a:avLst/>
          </a:prstGeom>
          <a:gradFill flip="none" rotWithShape="1">
            <a:gsLst>
              <a:gs pos="0">
                <a:srgbClr val="0070C0">
                  <a:tint val="66000"/>
                  <a:satMod val="160000"/>
                </a:srgbClr>
              </a:gs>
              <a:gs pos="50000">
                <a:srgbClr val="0070C0">
                  <a:tint val="44500"/>
                  <a:satMod val="160000"/>
                </a:srgbClr>
              </a:gs>
              <a:gs pos="100000">
                <a:srgbClr val="0070C0">
                  <a:tint val="23500"/>
                  <a:satMod val="160000"/>
                </a:srgbClr>
              </a:gs>
            </a:gsLst>
            <a:lin ang="1080000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BF475AC-181E-28A3-068F-A559974393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6" y="914400"/>
            <a:ext cx="10392086" cy="701391"/>
          </a:xfrm>
        </p:spPr>
        <p:txBody>
          <a:bodyPr>
            <a:normAutofit fontScale="90000"/>
          </a:bodyPr>
          <a:lstStyle/>
          <a:p>
            <a:r>
              <a:rPr lang="en-GB" dirty="0"/>
              <a:t>Product, retailer, and channel performance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5EB9725-6A59-ACD3-8A31-BA6932053668}"/>
              </a:ext>
            </a:extLst>
          </p:cNvPr>
          <p:cNvSpPr/>
          <p:nvPr/>
        </p:nvSpPr>
        <p:spPr>
          <a:xfrm>
            <a:off x="564326" y="2053652"/>
            <a:ext cx="5850068" cy="3910334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C63EF6-9722-9FBE-1E85-5F1E75923A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5" y="2221992"/>
            <a:ext cx="5850067" cy="3739896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latin typeface="+mj-lt"/>
              </a:rPr>
              <a:t>Product Performance</a:t>
            </a:r>
          </a:p>
          <a:p>
            <a:r>
              <a:rPr lang="en-US" dirty="0">
                <a:latin typeface="+mj-lt"/>
              </a:rPr>
              <a:t>Top: Men’s Street Footwear ($208.8M) </a:t>
            </a:r>
          </a:p>
          <a:p>
            <a:r>
              <a:rPr lang="en-US" dirty="0">
                <a:latin typeface="+mj-lt"/>
              </a:rPr>
              <a:t>Footwear = </a:t>
            </a:r>
            <a:r>
              <a:rPr lang="en-US" b="1" dirty="0">
                <a:latin typeface="+mj-lt"/>
              </a:rPr>
              <a:t>66% revenue</a:t>
            </a:r>
            <a:r>
              <a:rPr lang="en-US" dirty="0">
                <a:latin typeface="+mj-lt"/>
              </a:rPr>
              <a:t> </a:t>
            </a:r>
          </a:p>
          <a:p>
            <a:r>
              <a:rPr lang="en-US" dirty="0">
                <a:latin typeface="+mj-lt"/>
              </a:rPr>
              <a:t>Women’s Apparel high margin </a:t>
            </a:r>
          </a:p>
          <a:p>
            <a:pPr marL="0" indent="0">
              <a:buNone/>
            </a:pPr>
            <a:r>
              <a:rPr lang="en-US" b="1" dirty="0">
                <a:latin typeface="+mj-lt"/>
              </a:rPr>
              <a:t>Retailer &amp; Channel Performance</a:t>
            </a:r>
          </a:p>
          <a:p>
            <a:r>
              <a:rPr lang="en-US" dirty="0">
                <a:latin typeface="+mj-lt"/>
              </a:rPr>
              <a:t>Top Retailers: West Gear, Foot Locker (51%) </a:t>
            </a:r>
          </a:p>
          <a:p>
            <a:r>
              <a:rPr lang="en-US" dirty="0">
                <a:latin typeface="+mj-lt"/>
              </a:rPr>
              <a:t>Most profitable: Sports Direct </a:t>
            </a:r>
          </a:p>
          <a:p>
            <a:r>
              <a:rPr lang="en-US" dirty="0">
                <a:latin typeface="+mj-lt"/>
              </a:rPr>
              <a:t>Channel: In-store (39.6%) &gt; Outlet &gt; Online (27.5%)</a:t>
            </a:r>
          </a:p>
          <a:p>
            <a:endParaRPr lang="en-GB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955AA771-2180-FE9B-43D2-8E6FC3D23A4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21437" y="1693889"/>
            <a:ext cx="3934154" cy="4249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88240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F3A33ED-9D79-3FDC-A6EC-D38E4C303B59}"/>
              </a:ext>
            </a:extLst>
          </p:cNvPr>
          <p:cNvSpPr/>
          <p:nvPr/>
        </p:nvSpPr>
        <p:spPr>
          <a:xfrm>
            <a:off x="700635" y="2428030"/>
            <a:ext cx="4006276" cy="2728586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85000"/>
                  <a:shade val="30000"/>
                  <a:satMod val="115000"/>
                </a:schemeClr>
              </a:gs>
              <a:gs pos="50000">
                <a:schemeClr val="bg1">
                  <a:lumMod val="85000"/>
                  <a:shade val="67500"/>
                  <a:satMod val="115000"/>
                </a:schemeClr>
              </a:gs>
              <a:gs pos="100000">
                <a:schemeClr val="bg1">
                  <a:lumMod val="85000"/>
                  <a:shade val="100000"/>
                  <a:satMod val="115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B815FBC-CF33-1666-FCB9-C4876C49E424}"/>
              </a:ext>
            </a:extLst>
          </p:cNvPr>
          <p:cNvSpPr/>
          <p:nvPr/>
        </p:nvSpPr>
        <p:spPr>
          <a:xfrm>
            <a:off x="700634" y="955862"/>
            <a:ext cx="8578277" cy="590893"/>
          </a:xfrm>
          <a:prstGeom prst="roundRect">
            <a:avLst/>
          </a:prstGeom>
          <a:gradFill flip="none" rotWithShape="1">
            <a:gsLst>
              <a:gs pos="0">
                <a:srgbClr val="0070C0">
                  <a:tint val="66000"/>
                  <a:satMod val="160000"/>
                </a:srgbClr>
              </a:gs>
              <a:gs pos="50000">
                <a:srgbClr val="0070C0">
                  <a:tint val="44500"/>
                  <a:satMod val="160000"/>
                </a:srgbClr>
              </a:gs>
              <a:gs pos="100000">
                <a:srgbClr val="0070C0">
                  <a:tint val="23500"/>
                  <a:satMod val="160000"/>
                </a:srgbClr>
              </a:gs>
            </a:gsLst>
            <a:lin ang="1080000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345F0E4-FE19-07A3-64A4-5FEF308274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Regional and time trend insights</a:t>
            </a:r>
          </a:p>
        </p:txBody>
      </p:sp>
      <p:pic>
        <p:nvPicPr>
          <p:cNvPr id="7" name="Picture 6" descr="Programming data on computer monitor">
            <a:extLst>
              <a:ext uri="{FF2B5EF4-FFF2-40B4-BE49-F238E27FC236}">
                <a16:creationId xmlns:a16="http://schemas.microsoft.com/office/drawing/2014/main" id="{32C466E1-DEC1-4F33-4DAD-1BB542CDBC9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306924" cy="685800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D2EE73-690B-4F90-A89D-45B845F334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5" y="2517971"/>
            <a:ext cx="3421660" cy="2844683"/>
          </a:xfrm>
        </p:spPr>
        <p:txBody>
          <a:bodyPr/>
          <a:lstStyle/>
          <a:p>
            <a:r>
              <a:rPr lang="en-US" dirty="0">
                <a:latin typeface="+mj-lt"/>
              </a:rPr>
              <a:t>West leads (30%) </a:t>
            </a:r>
          </a:p>
          <a:p>
            <a:r>
              <a:rPr lang="en-US" dirty="0">
                <a:latin typeface="+mj-lt"/>
              </a:rPr>
              <a:t>Midwest lowest </a:t>
            </a:r>
          </a:p>
          <a:p>
            <a:r>
              <a:rPr lang="en-US" dirty="0">
                <a:latin typeface="+mj-lt"/>
              </a:rPr>
              <a:t>2021 recovery; Q3 peak ($210M) </a:t>
            </a:r>
          </a:p>
          <a:p>
            <a:r>
              <a:rPr lang="en-US" dirty="0">
                <a:latin typeface="+mj-lt"/>
              </a:rPr>
              <a:t>Peak months: July &amp; December 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612D24E8-9CEF-1132-1927-0FA63356491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27030" y="1738858"/>
            <a:ext cx="6864870" cy="4223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90013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rogramming data on computer monitor">
            <a:extLst>
              <a:ext uri="{FF2B5EF4-FFF2-40B4-BE49-F238E27FC236}">
                <a16:creationId xmlns:a16="http://schemas.microsoft.com/office/drawing/2014/main" id="{FE229CDB-9891-F4DA-882D-924958C174B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306924" cy="6858000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238079F-BCDE-FDF7-82EF-35EFF175AEC6}"/>
              </a:ext>
            </a:extLst>
          </p:cNvPr>
          <p:cNvSpPr/>
          <p:nvPr/>
        </p:nvSpPr>
        <p:spPr>
          <a:xfrm>
            <a:off x="7526703" y="961602"/>
            <a:ext cx="3481622" cy="590893"/>
          </a:xfrm>
          <a:prstGeom prst="roundRect">
            <a:avLst/>
          </a:prstGeom>
          <a:gradFill flip="none" rotWithShape="1">
            <a:gsLst>
              <a:gs pos="0">
                <a:srgbClr val="0070C0">
                  <a:tint val="66000"/>
                  <a:satMod val="160000"/>
                </a:srgbClr>
              </a:gs>
              <a:gs pos="50000">
                <a:srgbClr val="0070C0">
                  <a:tint val="44500"/>
                  <a:satMod val="160000"/>
                </a:srgbClr>
              </a:gs>
              <a:gs pos="100000">
                <a:srgbClr val="0070C0">
                  <a:tint val="23500"/>
                  <a:satMod val="160000"/>
                </a:srgbClr>
              </a:gs>
            </a:gsLst>
            <a:lin ang="1080000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 descr="Bright ladder against dull ladders">
            <a:extLst>
              <a:ext uri="{FF2B5EF4-FFF2-40B4-BE49-F238E27FC236}">
                <a16:creationId xmlns:a16="http://schemas.microsoft.com/office/drawing/2014/main" id="{526E9962-55C0-0835-B17B-C7387F13245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816184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A76A50D-284A-1F5B-706F-4E5F4B3FBB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80924" y="940872"/>
            <a:ext cx="3226788" cy="632355"/>
          </a:xfrm>
        </p:spPr>
        <p:txBody>
          <a:bodyPr>
            <a:normAutofit fontScale="90000"/>
          </a:bodyPr>
          <a:lstStyle/>
          <a:p>
            <a:r>
              <a:rPr lang="en-GB" dirty="0"/>
              <a:t>Key insights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88226CF-1FED-06CA-29AF-A42A9628A24C}"/>
              </a:ext>
            </a:extLst>
          </p:cNvPr>
          <p:cNvSpPr/>
          <p:nvPr/>
        </p:nvSpPr>
        <p:spPr>
          <a:xfrm>
            <a:off x="5542459" y="2503357"/>
            <a:ext cx="5565253" cy="2473377"/>
          </a:xfrm>
          <a:prstGeom prst="roundRect">
            <a:avLst/>
          </a:prstGeom>
          <a:solidFill>
            <a:schemeClr val="bg1"/>
          </a:solidFill>
          <a:ln w="1270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miter lim="800000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9D279ED-09D3-6FBF-3F1B-24F08C0106B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542459" y="1997839"/>
            <a:ext cx="5565253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Strong post-COVID growth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Footwear dominates market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Online channel underutilized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Regional preferences vary </a:t>
            </a:r>
          </a:p>
        </p:txBody>
      </p:sp>
    </p:spTree>
    <p:extLst>
      <p:ext uri="{BB962C8B-B14F-4D97-AF65-F5344CB8AC3E}">
        <p14:creationId xmlns:p14="http://schemas.microsoft.com/office/powerpoint/2010/main" val="1103702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Programming data on computer monitor">
            <a:extLst>
              <a:ext uri="{FF2B5EF4-FFF2-40B4-BE49-F238E27FC236}">
                <a16:creationId xmlns:a16="http://schemas.microsoft.com/office/drawing/2014/main" id="{90A69977-C5AA-C121-9435-145D39E66D7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306924" cy="6858000"/>
          </a:xfrm>
          <a:prstGeom prst="rect">
            <a:avLst/>
          </a:prstGeom>
        </p:spPr>
      </p:pic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A0C58CB4-5653-8F02-E68E-4E4F264CF7D6}"/>
              </a:ext>
            </a:extLst>
          </p:cNvPr>
          <p:cNvSpPr/>
          <p:nvPr/>
        </p:nvSpPr>
        <p:spPr>
          <a:xfrm>
            <a:off x="3488804" y="923448"/>
            <a:ext cx="4890697" cy="590893"/>
          </a:xfrm>
          <a:prstGeom prst="roundRect">
            <a:avLst/>
          </a:prstGeom>
          <a:gradFill flip="none" rotWithShape="1">
            <a:gsLst>
              <a:gs pos="0">
                <a:srgbClr val="0070C0">
                  <a:tint val="66000"/>
                  <a:satMod val="160000"/>
                </a:srgbClr>
              </a:gs>
              <a:gs pos="50000">
                <a:srgbClr val="0070C0">
                  <a:tint val="44500"/>
                  <a:satMod val="160000"/>
                </a:srgbClr>
              </a:gs>
              <a:gs pos="100000">
                <a:srgbClr val="0070C0">
                  <a:tint val="23500"/>
                  <a:satMod val="160000"/>
                </a:srgbClr>
              </a:gs>
            </a:gsLst>
            <a:lin ang="1080000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737AF05-33B1-E4D0-F26B-C2275D56E6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9890" y="865050"/>
            <a:ext cx="4770775" cy="674557"/>
          </a:xfrm>
        </p:spPr>
        <p:txBody>
          <a:bodyPr>
            <a:noAutofit/>
          </a:bodyPr>
          <a:lstStyle/>
          <a:p>
            <a:r>
              <a:rPr lang="en-GB" dirty="0"/>
              <a:t>Recommendations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357AA96-9641-39CE-C70D-F2E399EB4289}"/>
              </a:ext>
            </a:extLst>
          </p:cNvPr>
          <p:cNvSpPr/>
          <p:nvPr/>
        </p:nvSpPr>
        <p:spPr>
          <a:xfrm>
            <a:off x="723590" y="1709029"/>
            <a:ext cx="4019705" cy="3972243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2700" cap="flat" cmpd="sng" algn="ctr">
            <a:noFill/>
            <a:prstDash val="solid"/>
            <a:miter lim="800000"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57446E-6B75-8C6D-A216-BCF2493DFE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7253" y="1825202"/>
            <a:ext cx="4096216" cy="3739896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1400" dirty="0">
                <a:latin typeface="+mj-lt"/>
              </a:rPr>
              <a:t>Based on the data analysis, the following strategic recommendations are provided across five key areas:</a:t>
            </a:r>
          </a:p>
          <a:p>
            <a:pPr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sz="1400" b="1" dirty="0">
                <a:latin typeface="+mj-lt"/>
              </a:rPr>
              <a:t>Product Strategy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1400" dirty="0">
                <a:latin typeface="+mj-lt"/>
              </a:rPr>
              <a:t>Expand hero products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1400" dirty="0">
                <a:latin typeface="+mj-lt"/>
              </a:rPr>
              <a:t>Invest in Women’s Apparel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1400" dirty="0">
                <a:latin typeface="+mj-lt"/>
              </a:rPr>
              <a:t>Grow Women’s Athletic Footwear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1400" dirty="0">
                <a:latin typeface="+mj-lt"/>
              </a:rPr>
              <a:t>Improve Men’s Athletic Footwear margins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1400" b="1" dirty="0">
                <a:latin typeface="+mj-lt"/>
              </a:rPr>
              <a:t>2. Channel Optimization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1400" dirty="0">
                <a:latin typeface="+mj-lt"/>
              </a:rPr>
              <a:t>Grow the online channel aggressively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1400" dirty="0">
                <a:latin typeface="+mj-lt"/>
              </a:rPr>
              <a:t>Align channel strategy with regional preferences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1400" dirty="0" err="1">
                <a:latin typeface="+mj-lt"/>
              </a:rPr>
              <a:t>Capitalise</a:t>
            </a:r>
            <a:r>
              <a:rPr lang="en-US" sz="1400" dirty="0">
                <a:latin typeface="+mj-lt"/>
              </a:rPr>
              <a:t> on Q4 with seasonal campaigns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1400" dirty="0">
                <a:latin typeface="+mj-lt"/>
              </a:rPr>
              <a:t>Prepare for peak months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endParaRPr lang="en-GB" sz="12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FB3C8FA-20C4-A5B2-5660-F5920AA2BC2B}"/>
              </a:ext>
            </a:extLst>
          </p:cNvPr>
          <p:cNvSpPr/>
          <p:nvPr/>
        </p:nvSpPr>
        <p:spPr>
          <a:xfrm>
            <a:off x="7372195" y="1712775"/>
            <a:ext cx="4019705" cy="3972243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2700" cap="flat" cmpd="sng" algn="ctr">
            <a:noFill/>
            <a:prstDash val="solid"/>
            <a:miter lim="800000"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F252D97-50AD-354B-2246-031F7C1C2950}"/>
              </a:ext>
            </a:extLst>
          </p:cNvPr>
          <p:cNvSpPr/>
          <p:nvPr/>
        </p:nvSpPr>
        <p:spPr>
          <a:xfrm>
            <a:off x="4767888" y="3011375"/>
            <a:ext cx="2556758" cy="2995384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2700" cap="flat" cmpd="sng" algn="ctr">
            <a:noFill/>
            <a:prstDash val="solid"/>
            <a:miter lim="800000"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55618F3-CCE5-F29A-4824-5290BB855381}"/>
              </a:ext>
            </a:extLst>
          </p:cNvPr>
          <p:cNvSpPr txBox="1"/>
          <p:nvPr/>
        </p:nvSpPr>
        <p:spPr>
          <a:xfrm>
            <a:off x="5086114" y="3067588"/>
            <a:ext cx="2238532" cy="296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 b="1" dirty="0"/>
              <a:t>3. </a:t>
            </a:r>
            <a:r>
              <a:rPr lang="en-US" sz="1400" b="1" dirty="0">
                <a:latin typeface="+mj-lt"/>
              </a:rPr>
              <a:t>Regional Focus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+mj-lt"/>
              </a:rPr>
              <a:t>Protect and grow the West</a:t>
            </a:r>
            <a:endParaRPr lang="en-US" sz="1400" dirty="0">
              <a:solidFill>
                <a:srgbClr val="2E75B6"/>
              </a:solidFill>
              <a:effectLst/>
              <a:latin typeface="+mj-lt"/>
              <a:ea typeface="Arial" panose="020B0604020202020204" pitchFamily="34" charset="0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+mj-lt"/>
              </a:rPr>
              <a:t>Develop the South and Midwest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+mj-lt"/>
              </a:rPr>
              <a:t>Customize South strategy around Women’s Apparel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+mj-lt"/>
              </a:rPr>
              <a:t>Leverage online in the Southeast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74CD581-484F-703B-91C6-D00ADE037A35}"/>
              </a:ext>
            </a:extLst>
          </p:cNvPr>
          <p:cNvSpPr txBox="1"/>
          <p:nvPr/>
        </p:nvSpPr>
        <p:spPr>
          <a:xfrm>
            <a:off x="7486731" y="1738041"/>
            <a:ext cx="4019705" cy="42148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b="1" dirty="0">
                <a:latin typeface="+mj-lt"/>
              </a:rPr>
              <a:t>4. </a:t>
            </a:r>
            <a:r>
              <a:rPr lang="en-US" sz="1400" b="1" dirty="0">
                <a:latin typeface="+mj-lt"/>
              </a:rPr>
              <a:t>Demand Forecasting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+mj-lt"/>
              </a:rPr>
              <a:t>Build a seasonality-aware inventory model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+mj-lt"/>
              </a:rPr>
              <a:t>Establish clear sales targets for benchmarking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+mj-lt"/>
              </a:rPr>
              <a:t>Scenario planning for post-recovery </a:t>
            </a:r>
            <a:r>
              <a:rPr lang="en-US" sz="1400" dirty="0" err="1">
                <a:latin typeface="+mj-lt"/>
              </a:rPr>
              <a:t>normalisation</a:t>
            </a:r>
            <a:endParaRPr lang="en-US" sz="1400" dirty="0">
              <a:latin typeface="+mj-lt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+mj-lt"/>
              </a:rPr>
              <a:t>Monitor emerging categories closely</a:t>
            </a:r>
          </a:p>
          <a:p>
            <a:pPr>
              <a:lnSpc>
                <a:spcPct val="150000"/>
              </a:lnSpc>
            </a:pPr>
            <a:r>
              <a:rPr lang="en-US" sz="1400" b="1" dirty="0">
                <a:latin typeface="+mj-lt"/>
              </a:rPr>
              <a:t>5. Retailer and Partner Management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+mj-lt"/>
              </a:rPr>
              <a:t>Deepen strategic partnerships with West Gear and Foot Locker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 err="1">
                <a:latin typeface="+mj-lt"/>
              </a:rPr>
              <a:t>Maximise</a:t>
            </a:r>
            <a:r>
              <a:rPr lang="en-US" sz="1400" dirty="0">
                <a:latin typeface="+mj-lt"/>
              </a:rPr>
              <a:t> Sports Direct’s high-margin potential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+mj-lt"/>
              </a:rPr>
              <a:t>Review Walmart performance and consider repositioning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+mj-lt"/>
              </a:rPr>
              <a:t>Strengthen Amazon brand protection</a:t>
            </a:r>
          </a:p>
          <a:p>
            <a:pPr>
              <a:lnSpc>
                <a:spcPct val="150000"/>
              </a:lnSpc>
            </a:pP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7888131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 descr="One glowing light up arrow among other down arrows on green pastel color background">
            <a:extLst>
              <a:ext uri="{FF2B5EF4-FFF2-40B4-BE49-F238E27FC236}">
                <a16:creationId xmlns:a16="http://schemas.microsoft.com/office/drawing/2014/main" id="{0C26E284-94B0-89CE-ADA1-DC72CC00FF8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Flowchart: Connector 7">
            <a:extLst>
              <a:ext uri="{FF2B5EF4-FFF2-40B4-BE49-F238E27FC236}">
                <a16:creationId xmlns:a16="http://schemas.microsoft.com/office/drawing/2014/main" id="{9CDD6A6E-B401-0C6E-64A5-102C60071833}"/>
              </a:ext>
            </a:extLst>
          </p:cNvPr>
          <p:cNvSpPr/>
          <p:nvPr/>
        </p:nvSpPr>
        <p:spPr>
          <a:xfrm>
            <a:off x="0" y="0"/>
            <a:ext cx="1813965" cy="1935480"/>
          </a:xfrm>
          <a:prstGeom prst="flowChartConnector">
            <a:avLst/>
          </a:prstGeom>
          <a:solidFill>
            <a:schemeClr val="tx2">
              <a:lumMod val="50000"/>
              <a:lumOff val="5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589F602-7BD1-A7A8-F80C-887B4B9CA7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07715" y="1935480"/>
            <a:ext cx="5273445" cy="822960"/>
          </a:xfrm>
        </p:spPr>
        <p:txBody>
          <a:bodyPr>
            <a:noAutofit/>
          </a:bodyPr>
          <a:lstStyle/>
          <a:p>
            <a:r>
              <a:rPr lang="en-US" sz="5400" dirty="0">
                <a:latin typeface="Algerian" panose="04020705040A02060702" pitchFamily="82" charset="0"/>
              </a:rPr>
              <a:t>THANK YOU</a:t>
            </a:r>
          </a:p>
        </p:txBody>
      </p:sp>
      <p:sp>
        <p:nvSpPr>
          <p:cNvPr id="11" name="Flowchart: Connector 10">
            <a:extLst>
              <a:ext uri="{FF2B5EF4-FFF2-40B4-BE49-F238E27FC236}">
                <a16:creationId xmlns:a16="http://schemas.microsoft.com/office/drawing/2014/main" id="{6BDE5E78-55EB-5D3D-D6F7-8E82873AA4A3}"/>
              </a:ext>
            </a:extLst>
          </p:cNvPr>
          <p:cNvSpPr/>
          <p:nvPr/>
        </p:nvSpPr>
        <p:spPr>
          <a:xfrm>
            <a:off x="10378035" y="4922520"/>
            <a:ext cx="1813965" cy="1935480"/>
          </a:xfrm>
          <a:prstGeom prst="flowChartConnector">
            <a:avLst/>
          </a:prstGeom>
          <a:solidFill>
            <a:schemeClr val="tx2">
              <a:lumMod val="50000"/>
              <a:lumOff val="5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lowchart: Connector 11">
            <a:extLst>
              <a:ext uri="{FF2B5EF4-FFF2-40B4-BE49-F238E27FC236}">
                <a16:creationId xmlns:a16="http://schemas.microsoft.com/office/drawing/2014/main" id="{09BC888A-3C21-3D85-60CC-AF6D31C845DB}"/>
              </a:ext>
            </a:extLst>
          </p:cNvPr>
          <p:cNvSpPr/>
          <p:nvPr/>
        </p:nvSpPr>
        <p:spPr>
          <a:xfrm>
            <a:off x="1751993" y="1546860"/>
            <a:ext cx="503730" cy="556260"/>
          </a:xfrm>
          <a:prstGeom prst="flowChartConnector">
            <a:avLst/>
          </a:prstGeom>
          <a:solidFill>
            <a:schemeClr val="tx2">
              <a:lumMod val="50000"/>
              <a:lumOff val="5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lowchart: Connector 12">
            <a:extLst>
              <a:ext uri="{FF2B5EF4-FFF2-40B4-BE49-F238E27FC236}">
                <a16:creationId xmlns:a16="http://schemas.microsoft.com/office/drawing/2014/main" id="{4F7D71FB-27EE-4578-7194-103C640E36FE}"/>
              </a:ext>
            </a:extLst>
          </p:cNvPr>
          <p:cNvSpPr/>
          <p:nvPr/>
        </p:nvSpPr>
        <p:spPr>
          <a:xfrm>
            <a:off x="9707273" y="5219700"/>
            <a:ext cx="503730" cy="556260"/>
          </a:xfrm>
          <a:prstGeom prst="flowChartConnector">
            <a:avLst/>
          </a:prstGeom>
          <a:solidFill>
            <a:schemeClr val="tx2">
              <a:lumMod val="50000"/>
              <a:lumOff val="5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4883681"/>
      </p:ext>
    </p:extLst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532</TotalTime>
  <Words>389</Words>
  <Application>Microsoft Office PowerPoint</Application>
  <PresentationFormat>Widescreen</PresentationFormat>
  <Paragraphs>94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Algerian</vt:lpstr>
      <vt:lpstr>Arial</vt:lpstr>
      <vt:lpstr>Calisto MT</vt:lpstr>
      <vt:lpstr>Univers Condensed</vt:lpstr>
      <vt:lpstr>ChronicleVTI</vt:lpstr>
      <vt:lpstr>Adidas Sales Data Analysis</vt:lpstr>
      <vt:lpstr>Business Problem and Objectives</vt:lpstr>
      <vt:lpstr>Data OVERVIEW</vt:lpstr>
      <vt:lpstr>OVERALL KPI</vt:lpstr>
      <vt:lpstr>Product, retailer, and channel performance</vt:lpstr>
      <vt:lpstr>Regional and time trend insights</vt:lpstr>
      <vt:lpstr>Key insights</vt:lpstr>
      <vt:lpstr>Recommendations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Faith Caroline Moses</dc:creator>
  <cp:lastModifiedBy>DELL LATITUDE</cp:lastModifiedBy>
  <cp:revision>5</cp:revision>
  <dcterms:created xsi:type="dcterms:W3CDTF">2026-03-26T11:57:24Z</dcterms:created>
  <dcterms:modified xsi:type="dcterms:W3CDTF">2026-05-23T21:34:10Z</dcterms:modified>
</cp:coreProperties>
</file>